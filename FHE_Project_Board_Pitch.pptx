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7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-457200"/>
            <a:ext cx="1828800" cy="1828800"/>
          </a:xfrm>
          <a:prstGeom prst="ellipse">
            <a:avLst/>
          </a:prstGeom>
          <a:solidFill>
            <a:srgbClr val="005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332720" y="274320"/>
            <a:ext cx="2286000" cy="2286000"/>
          </a:xfrm>
          <a:prstGeom prst="ellipse">
            <a:avLst/>
          </a:prstGeom>
          <a:solidFill>
            <a:srgbClr val="014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97280" y="1645920"/>
            <a:ext cx="594360" cy="777240"/>
          </a:xfrm>
          <a:prstGeom prst="roundRect">
            <a:avLst/>
          </a:prstGeom>
          <a:solidFill>
            <a:srgbClr val="007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783080" y="1645920"/>
            <a:ext cx="594360" cy="548640"/>
          </a:xfrm>
          <a:prstGeom prst="roundRect">
            <a:avLst/>
          </a:prstGeom>
          <a:solidFill>
            <a:srgbClr val="00A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65176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Calibri"/>
              </a:defRPr>
            </a:pPr>
            <a:r>
              <a:t>FHE Project 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00AECC"/>
                </a:solidFill>
                <a:latin typeface="Calibri"/>
              </a:defRPr>
            </a:pPr>
            <a:r>
              <a:t>Why Pay Rent When You Can Own?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1148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E6C84"/>
                </a:solidFill>
                <a:latin typeface="Calibri"/>
              </a:defRPr>
            </a:pPr>
            <a:r>
              <a:t>An Internal Project Management Tool Built By Engineers, For Engineers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1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6446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E6C84"/>
                </a:solidFill>
                <a:latin typeface="Calibri"/>
              </a:defRPr>
            </a:pPr>
            <a:r>
              <a:t>Florida Horizon Engineering  |  February 2026  |  Confidential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645920"/>
            <a:ext cx="1097280" cy="1097280"/>
          </a:xfrm>
          <a:prstGeom prst="roundRect">
            <a:avLst/>
          </a:prstGeom>
          <a:solidFill>
            <a:srgbClr val="026AA7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0" y="1843430"/>
            <a:ext cx="1097280" cy="4937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FHE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2249424"/>
            <a:ext cx="10972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00" b="1">
                <a:solidFill>
                  <a:srgbClr val="FFFFFF"/>
                </a:solidFill>
              </a:defRPr>
            </a:pPr>
            <a:r>
              <a:t>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EB5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Houston, We Have a Subscription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1645920"/>
            <a:ext cx="2286000" cy="1371600"/>
          </a:xfrm>
          <a:prstGeom prst="roundRect">
            <a:avLst/>
          </a:prstGeom>
          <a:solidFill>
            <a:srgbClr val="FCEA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5960" y="1737360"/>
            <a:ext cx="457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EB5A46"/>
                </a:solidFill>
                <a:latin typeface="Calibri"/>
              </a:defRPr>
            </a:pPr>
            <a:r>
              <a:t>$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0" y="1645920"/>
            <a:ext cx="2286000" cy="1371600"/>
          </a:xfrm>
          <a:prstGeom prst="roundRect">
            <a:avLst/>
          </a:prstGeom>
          <a:solidFill>
            <a:srgbClr val="FCEA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66360" y="1737360"/>
            <a:ext cx="457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EB5A46"/>
                </a:solidFill>
                <a:latin typeface="Calibri"/>
              </a:defRPr>
            </a:pPr>
            <a:r>
              <a:t>$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645920"/>
            <a:ext cx="2286000" cy="1371600"/>
          </a:xfrm>
          <a:prstGeom prst="roundRect">
            <a:avLst/>
          </a:prstGeom>
          <a:solidFill>
            <a:srgbClr val="FCEA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737360"/>
            <a:ext cx="457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EB5A46"/>
                </a:solidFill>
                <a:latin typeface="Calibri"/>
              </a:defRPr>
            </a:pPr>
            <a:r>
              <a:t>$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18288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B5A46"/>
                </a:solidFill>
                <a:latin typeface="Calibri"/>
              </a:defRPr>
            </a:pPr>
            <a:r>
              <a:t>$62.50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22860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E6C84"/>
                </a:solidFill>
                <a:latin typeface="Calibri"/>
              </a:defRPr>
            </a:pPr>
            <a:r>
              <a:t>/month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18288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B5A46"/>
                </a:solidFill>
                <a:latin typeface="Calibri"/>
              </a:defRPr>
            </a:pPr>
            <a:r>
              <a:t>$750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22860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E6C84"/>
                </a:solidFill>
                <a:latin typeface="Calibri"/>
              </a:defRPr>
            </a:pPr>
            <a:r>
              <a:t>/year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18288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B5A46"/>
                </a:solidFill>
                <a:latin typeface="Calibri"/>
              </a:defRPr>
            </a:pPr>
            <a:r>
              <a:t>$3,750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22860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E6C84"/>
                </a:solidFill>
                <a:latin typeface="Calibri"/>
              </a:defRPr>
            </a:pPr>
            <a:r>
              <a:t>/ 5 years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291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172B4D"/>
                </a:solidFill>
                <a:latin typeface="Calibri"/>
              </a:defRPr>
            </a:pPr>
            <a:r>
              <a:t>5 Trello Premium licenses x $12.50/user/month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71600" y="3840480"/>
            <a:ext cx="9448495" cy="18288"/>
          </a:xfrm>
          <a:prstGeom prst="rect">
            <a:avLst/>
          </a:prstGeom>
          <a:solidFill>
            <a:srgbClr val="DF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" y="4114800"/>
            <a:ext cx="10362895" cy="1097280"/>
          </a:xfrm>
          <a:prstGeom prst="roundRect">
            <a:avLst/>
          </a:prstGeom>
          <a:solidFill>
            <a:srgbClr val="FFF4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0160" y="4160520"/>
            <a:ext cx="9601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29034"/>
                </a:solidFill>
                <a:latin typeface="Calibri"/>
              </a:defRPr>
            </a:pPr>
            <a:r>
              <a:t>And it only gets worse as we grow...</a:t>
            </a:r>
          </a:p>
          <a:p>
            <a:pPr>
              <a:spcBef>
                <a:spcPts val="600"/>
              </a:spcBef>
              <a:defRPr sz="1600" b="0">
                <a:solidFill>
                  <a:srgbClr val="172B4D"/>
                </a:solidFill>
                <a:latin typeface="Calibri"/>
              </a:defRPr>
            </a:pPr>
            <a:r>
              <a:t>10 users = $125/month = $1,500/year</a:t>
            </a:r>
          </a:p>
          <a:p>
            <a:pPr>
              <a:spcBef>
                <a:spcPts val="600"/>
              </a:spcBef>
              <a:defRPr sz="1600" b="0">
                <a:solidFill>
                  <a:srgbClr val="172B4D"/>
                </a:solidFill>
                <a:latin typeface="Calibri"/>
              </a:defRPr>
            </a:pPr>
            <a:r>
              <a:t>20 users = $250/month = $3,000/year</a:t>
            </a:r>
          </a:p>
          <a:p>
            <a:pPr>
              <a:spcBef>
                <a:spcPts val="600"/>
              </a:spcBef>
              <a:defRPr sz="1600" b="1">
                <a:solidFill>
                  <a:srgbClr val="EB5A46"/>
                </a:solidFill>
                <a:latin typeface="Calibri"/>
              </a:defRPr>
            </a:pPr>
            <a:r>
              <a:t>20 users over 5 years = $15,000 paid to Atlassian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66928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E6C84"/>
                </a:solidFill>
                <a:latin typeface="Calibri"/>
              </a:defRPr>
            </a:pPr>
            <a:r>
              <a:t>"Every time we add a team member, Atlassian sends us a thank-you card."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75520" y="109728"/>
            <a:ext cx="777240" cy="777240"/>
          </a:xfrm>
          <a:prstGeom prst="roundRect">
            <a:avLst/>
          </a:prstGeom>
          <a:solidFill>
            <a:srgbClr val="026AA7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0" y="249631"/>
            <a:ext cx="777240" cy="34975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FHE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0" y="537210"/>
            <a:ext cx="777240" cy="2331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" b="1">
                <a:solidFill>
                  <a:srgbClr val="FFFFFF"/>
                </a:solidFill>
              </a:defRPr>
            </a:pPr>
            <a:r>
              <a:t>ENGINEERING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F2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What Trello CAN'T 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1828800"/>
          </a:xfrm>
          <a:prstGeom prst="round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554480"/>
            <a:ext cx="109728" cy="1828800"/>
          </a:xfrm>
          <a:prstGeom prst="rect">
            <a:avLst/>
          </a:prstGeom>
          <a:solidFill>
            <a:srgbClr val="EB5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737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B5A4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7830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72B4D"/>
                </a:solidFill>
                <a:latin typeface="Calibri"/>
              </a:defRPr>
            </a:pPr>
            <a:r>
              <a:t>No Email Automation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24028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E6C84"/>
                </a:solidFill>
                <a:latin typeface="Calibri"/>
              </a:defRPr>
            </a:pPr>
            <a:r>
              <a:t>We need incoming emails to auto-create tasks. Trello says: 'upgrade to Enterprise.'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554480"/>
            <a:ext cx="5120640" cy="1828800"/>
          </a:xfrm>
          <a:prstGeom prst="round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554480"/>
            <a:ext cx="109728" cy="1828800"/>
          </a:xfrm>
          <a:prstGeom prst="rect">
            <a:avLst/>
          </a:prstGeom>
          <a:solidFill>
            <a:srgbClr val="D29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1737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B5A4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78040" y="17830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72B4D"/>
                </a:solidFill>
                <a:latin typeface="Calibri"/>
              </a:defRPr>
            </a:pPr>
            <a:r>
              <a:t>Per-Seat Pricing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8040" y="224028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E6C84"/>
                </a:solidFill>
                <a:latin typeface="Calibri"/>
              </a:defRPr>
            </a:pPr>
            <a:r>
              <a:t>Every new hire = more $$$. Growth shouldn't cost us more in software.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749039"/>
            <a:ext cx="5120640" cy="1828800"/>
          </a:xfrm>
          <a:prstGeom prst="round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3749039"/>
            <a:ext cx="109728" cy="1828800"/>
          </a:xfrm>
          <a:prstGeom prst="rect">
            <a:avLst/>
          </a:prstGeom>
          <a:solidFill>
            <a:srgbClr val="007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931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B5A4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97763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72B4D"/>
                </a:solidFill>
                <a:latin typeface="Calibri"/>
              </a:defRPr>
            </a:pPr>
            <a:r>
              <a:t>Limited Customization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43484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E6C84"/>
                </a:solidFill>
                <a:latin typeface="Calibri"/>
              </a:defRPr>
            </a:pPr>
            <a:r>
              <a:t>Our workflows don't fit Trello's mold. We adapt to them instead of them to us.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3749039"/>
            <a:ext cx="5120640" cy="1828800"/>
          </a:xfrm>
          <a:prstGeom prst="round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3749039"/>
            <a:ext cx="109728" cy="1828800"/>
          </a:xfrm>
          <a:prstGeom prst="rect">
            <a:avLst/>
          </a:prstGeom>
          <a:solidFill>
            <a:srgbClr val="896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20840" y="3931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B5A4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397763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72B4D"/>
                </a:solidFill>
                <a:latin typeface="Calibri"/>
              </a:defRPr>
            </a:pPr>
            <a:r>
              <a:t>Their Data, Their Rules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443484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E6C84"/>
                </a:solidFill>
                <a:latin typeface="Calibri"/>
              </a:defRPr>
            </a:pPr>
            <a:r>
              <a:t>Our project data lives on Atlassian's servers. We have zero control.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94360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26AA7"/>
                </a:solidFill>
                <a:latin typeface="Calibri"/>
              </a:defRPr>
            </a:pPr>
            <a:r>
              <a:t>"We're renting a tool when we could own one."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75520" y="109728"/>
            <a:ext cx="777240" cy="777240"/>
          </a:xfrm>
          <a:prstGeom prst="roundRect">
            <a:avLst/>
          </a:prstGeom>
          <a:solidFill>
            <a:srgbClr val="026AA7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0" y="249631"/>
            <a:ext cx="777240" cy="34975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FHE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537210"/>
            <a:ext cx="777240" cy="2331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" b="1">
                <a:solidFill>
                  <a:srgbClr val="FFFFFF"/>
                </a:solidFill>
              </a:defRPr>
            </a:pPr>
            <a:r>
              <a:t>ENGINEERING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1B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Introducing: FHE Project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00AECC"/>
                </a:solidFill>
                <a:latin typeface="Calibri"/>
              </a:defRPr>
            </a:pPr>
            <a:r>
              <a:t>Built BY us, FOR us. Zero subscription fees. Unlimited users. Forever.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3474720" cy="1920240"/>
          </a:xfrm>
          <a:prstGeom prst="round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3749039"/>
            <a:ext cx="3474720" cy="91440"/>
          </a:xfrm>
          <a:prstGeom prst="rect">
            <a:avLst/>
          </a:prstGeom>
          <a:solidFill>
            <a:srgbClr val="007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1488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☑ Kanban Boards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65176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E6C84"/>
                </a:solidFill>
                <a:latin typeface="Calibri"/>
              </a:defRPr>
            </a:pPr>
            <a:r>
              <a:t>Drag &amp; drop project management</a:t>
            </a:r>
            <a:br/>
            <a:r>
              <a:t>just like Trello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920240"/>
            <a:ext cx="3474720" cy="1920240"/>
          </a:xfrm>
          <a:prstGeom prst="round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3749039"/>
            <a:ext cx="3474720" cy="91440"/>
          </a:xfrm>
          <a:prstGeom prst="rect">
            <a:avLst/>
          </a:prstGeom>
          <a:solidFill>
            <a:srgbClr val="61B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1488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☑ Email Automation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5176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E6C84"/>
                </a:solidFill>
                <a:latin typeface="Calibri"/>
              </a:defRPr>
            </a:pPr>
            <a:r>
              <a:t>Incoming emails automatically</a:t>
            </a:r>
            <a:br/>
            <a:r>
              <a:t>create task cards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920240"/>
            <a:ext cx="3474720" cy="1920240"/>
          </a:xfrm>
          <a:prstGeom prst="round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0" y="3749039"/>
            <a:ext cx="3474720" cy="91440"/>
          </a:xfrm>
          <a:prstGeom prst="rect">
            <a:avLst/>
          </a:prstGeom>
          <a:solidFill>
            <a:srgbClr val="00A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0" y="21488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☑ Unlimited Users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65176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E6C84"/>
                </a:solidFill>
                <a:latin typeface="Calibri"/>
              </a:defRPr>
            </a:pPr>
            <a:r>
              <a:t>Add 5, 50, or 500 users.</a:t>
            </a:r>
            <a:br/>
            <a:r>
              <a:t>Same cost: $0 per seat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206240"/>
            <a:ext cx="3474720" cy="1920240"/>
          </a:xfrm>
          <a:prstGeom prst="round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6035040"/>
            <a:ext cx="3474720" cy="91440"/>
          </a:xfrm>
          <a:prstGeom prst="rect">
            <a:avLst/>
          </a:prstGeom>
          <a:solidFill>
            <a:srgbClr val="CD5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44348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☑ Custom Workflows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4937759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E6C84"/>
                </a:solidFill>
                <a:latin typeface="Calibri"/>
              </a:defRPr>
            </a:pPr>
            <a:r>
              <a:t>Tailored to FHE's processes,</a:t>
            </a:r>
            <a:br/>
            <a:r>
              <a:t>not Trello's templates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4206240"/>
            <a:ext cx="3474720" cy="1920240"/>
          </a:xfrm>
          <a:prstGeom prst="round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120" y="6035040"/>
            <a:ext cx="3474720" cy="91440"/>
          </a:xfrm>
          <a:prstGeom prst="rect">
            <a:avLst/>
          </a:prstGeom>
          <a:solidFill>
            <a:srgbClr val="896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3440" y="44348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☑ Data Ownership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4937759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E6C84"/>
                </a:solidFill>
                <a:latin typeface="Calibri"/>
              </a:defRPr>
            </a:pPr>
            <a:r>
              <a:t>Our data stays on our servers.</a:t>
            </a:r>
            <a:br/>
            <a:r>
              <a:t>Full control, full privacy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4206240"/>
            <a:ext cx="3474720" cy="1920240"/>
          </a:xfrm>
          <a:prstGeom prst="round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0" y="6035040"/>
            <a:ext cx="3474720" cy="91440"/>
          </a:xfrm>
          <a:prstGeom prst="rect">
            <a:avLst/>
          </a:prstGeom>
          <a:solidFill>
            <a:srgbClr val="D29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03920" y="44348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☑ Mobile Ready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4937759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E6C84"/>
                </a:solidFill>
                <a:latin typeface="Calibri"/>
              </a:defRPr>
            </a:pPr>
            <a:r>
              <a:t>Works on any device, anywhere.</a:t>
            </a:r>
            <a:br/>
            <a:r>
              <a:t>PWA with offline support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0" y="109728"/>
            <a:ext cx="777240" cy="777240"/>
          </a:xfrm>
          <a:prstGeom prst="roundRect">
            <a:avLst/>
          </a:prstGeom>
          <a:solidFill>
            <a:srgbClr val="026AA7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20" y="249631"/>
            <a:ext cx="777240" cy="34975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FHE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0" y="537210"/>
            <a:ext cx="777240" cy="2331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" b="1">
                <a:solidFill>
                  <a:srgbClr val="FFFFFF"/>
                </a:solidFill>
              </a:defRPr>
            </a:pPr>
            <a:r>
              <a:t>ENGINEERING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754880" y="1371600"/>
            <a:ext cx="2743200" cy="2743200"/>
          </a:xfrm>
          <a:prstGeom prst="ellipse">
            <a:avLst/>
          </a:prstGeom>
          <a:solidFill>
            <a:srgbClr val="007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12080" y="1645920"/>
            <a:ext cx="1828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Don't Take My Word For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AECC"/>
                </a:solidFill>
                <a:latin typeface="Calibri"/>
              </a:defRPr>
            </a:pPr>
            <a:r>
              <a:t>LIVE DEMO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76072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E6C84"/>
                </a:solidFill>
                <a:latin typeface="Calibri"/>
              </a:defRPr>
            </a:pPr>
            <a:r>
              <a:t>Yes, it actually works. No, it's not a PowerPoint animation.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74320"/>
            <a:ext cx="777240" cy="777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79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14223"/>
            <a:ext cx="777240" cy="34975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079BF"/>
                </a:solidFill>
              </a:defRPr>
            </a:pPr>
            <a:r>
              <a:t>FHE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701802"/>
            <a:ext cx="777240" cy="2331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" b="1">
                <a:solidFill>
                  <a:srgbClr val="0079BF"/>
                </a:solidFill>
              </a:defRPr>
            </a:pPr>
            <a:r>
              <a:t>ENGINEERING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61B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Show Me The Money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3840480"/>
          </a:xfrm>
          <a:prstGeom prst="roundRect">
            <a:avLst/>
          </a:prstGeom>
          <a:solidFill>
            <a:srgbClr val="FCEA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5120640" cy="548640"/>
          </a:xfrm>
          <a:prstGeom prst="rect">
            <a:avLst/>
          </a:prstGeom>
          <a:solidFill>
            <a:srgbClr val="EB5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Trello Premium (5 years, 20 users)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860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EB5A46"/>
                </a:solidFill>
                <a:latin typeface="Calibri"/>
              </a:defRPr>
            </a:pPr>
            <a:r>
              <a:t>$15,000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20040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B4D"/>
                </a:solidFill>
                <a:latin typeface="Calibri"/>
              </a:defRPr>
            </a:pPr>
            <a:r>
              <a:t>$250/month at 20 users</a:t>
            </a:r>
          </a:p>
          <a:p>
            <a:pPr>
              <a:spcBef>
                <a:spcPts val="600"/>
              </a:spcBef>
              <a:defRPr sz="1500" b="0">
                <a:solidFill>
                  <a:srgbClr val="172B4D"/>
                </a:solidFill>
                <a:latin typeface="Calibri"/>
              </a:defRPr>
            </a:pPr>
            <a:r>
              <a:t>$3,000/year recurring</a:t>
            </a:r>
          </a:p>
          <a:p>
            <a:pPr>
              <a:spcBef>
                <a:spcPts val="600"/>
              </a:spcBef>
              <a:defRPr sz="1500" b="1">
                <a:solidFill>
                  <a:srgbClr val="EB5A46"/>
                </a:solidFill>
                <a:latin typeface="Calibri"/>
              </a:defRPr>
            </a:pPr>
            <a:r>
              <a:t>Scales against you as you grow</a:t>
            </a:r>
          </a:p>
          <a:p>
            <a:pPr>
              <a:spcBef>
                <a:spcPts val="600"/>
              </a:spcBef>
              <a:defRPr sz="1500" b="0">
                <a:solidFill>
                  <a:srgbClr val="172B4D"/>
                </a:solidFill>
                <a:latin typeface="Calibri"/>
              </a:defRPr>
            </a:pPr>
            <a:r>
              <a:t>No email automation included</a:t>
            </a:r>
          </a:p>
          <a:p>
            <a:pPr>
              <a:spcBef>
                <a:spcPts val="600"/>
              </a:spcBef>
              <a:defRPr sz="1500" b="0">
                <a:solidFill>
                  <a:srgbClr val="172B4D"/>
                </a:solidFill>
                <a:latin typeface="Calibri"/>
              </a:defRPr>
            </a:pPr>
            <a:r>
              <a:t>Data on Atlassian servers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63040"/>
            <a:ext cx="5120640" cy="3840480"/>
          </a:xfrm>
          <a:prstGeom prst="roundRect">
            <a:avLst/>
          </a:prstGeom>
          <a:solidFill>
            <a:srgbClr val="E4F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463040"/>
            <a:ext cx="5120640" cy="548640"/>
          </a:xfrm>
          <a:prstGeom prst="rect">
            <a:avLst/>
          </a:prstGeom>
          <a:solidFill>
            <a:srgbClr val="61B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5087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FHE Project Board (5 years)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2860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61BD4F"/>
                </a:solidFill>
                <a:latin typeface="Calibri"/>
              </a:defRPr>
            </a:pPr>
            <a:r>
              <a:t>$1,275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20040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72B4D"/>
                </a:solidFill>
                <a:latin typeface="Calibri"/>
              </a:defRPr>
            </a:pPr>
            <a:r>
              <a:t>~$255/year hosting + domain</a:t>
            </a:r>
          </a:p>
          <a:p>
            <a:pPr>
              <a:spcBef>
                <a:spcPts val="600"/>
              </a:spcBef>
              <a:defRPr sz="1500" b="1">
                <a:solidFill>
                  <a:srgbClr val="61BD4F"/>
                </a:solidFill>
                <a:latin typeface="Calibri"/>
              </a:defRPr>
            </a:pPr>
            <a:r>
              <a:t>UNLIMITED users - no per-seat cost</a:t>
            </a:r>
          </a:p>
          <a:p>
            <a:pPr>
              <a:spcBef>
                <a:spcPts val="600"/>
              </a:spcBef>
              <a:defRPr sz="1500" b="0">
                <a:solidFill>
                  <a:srgbClr val="172B4D"/>
                </a:solidFill>
                <a:latin typeface="Calibri"/>
              </a:defRPr>
            </a:pPr>
            <a:r>
              <a:t>Email automation BUILT IN</a:t>
            </a:r>
          </a:p>
          <a:p>
            <a:pPr>
              <a:spcBef>
                <a:spcPts val="600"/>
              </a:spcBef>
              <a:defRPr sz="1500" b="0">
                <a:solidFill>
                  <a:srgbClr val="172B4D"/>
                </a:solidFill>
                <a:latin typeface="Calibri"/>
              </a:defRPr>
            </a:pPr>
            <a:r>
              <a:t>Full data ownership</a:t>
            </a:r>
          </a:p>
          <a:p>
            <a:pPr>
              <a:spcBef>
                <a:spcPts val="600"/>
              </a:spcBef>
              <a:defRPr sz="1500" b="0">
                <a:solidFill>
                  <a:srgbClr val="172B4D"/>
                </a:solidFill>
                <a:latin typeface="Calibri"/>
              </a:defRPr>
            </a:pPr>
            <a:r>
              <a:t>Custom workflows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86000" y="5577840"/>
            <a:ext cx="7619695" cy="1005840"/>
          </a:xfrm>
          <a:prstGeom prst="round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86000" y="5669280"/>
            <a:ext cx="7619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61BD4F"/>
                </a:solidFill>
                <a:latin typeface="Calibri"/>
              </a:defRPr>
            </a:pPr>
            <a:r>
              <a:t>SAVE $13,725+ OVER 5 YEARS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6126480"/>
            <a:ext cx="7619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E6C84"/>
                </a:solidFill>
                <a:latin typeface="Calibri"/>
              </a:defRPr>
            </a:pPr>
            <a:r>
              <a:t>That's 91% less than Trello. Math doesn't lie.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875520" y="109728"/>
            <a:ext cx="777240" cy="777240"/>
          </a:xfrm>
          <a:prstGeom prst="roundRect">
            <a:avLst/>
          </a:prstGeom>
          <a:solidFill>
            <a:srgbClr val="026AA7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0" y="249631"/>
            <a:ext cx="777240" cy="34975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FHE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537210"/>
            <a:ext cx="777240" cy="2331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" b="1">
                <a:solidFill>
                  <a:srgbClr val="FFFFFF"/>
                </a:solidFill>
              </a:defRPr>
            </a:pPr>
            <a:r>
              <a:t>ENGINEERING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007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The Math Doesn't Lie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8354"/>
                <a:gridCol w="1528354"/>
                <a:gridCol w="1528354"/>
                <a:gridCol w="1528354"/>
                <a:gridCol w="1528354"/>
                <a:gridCol w="1528354"/>
                <a:gridCol w="1528356"/>
              </a:tblGrid>
              <a:tr h="54864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Year 1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Year 2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Year 3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Year 4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Year 5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172B4D"/>
                          </a:solidFill>
                        </a:defRPr>
                      </a:pPr>
                      <a:r>
                        <a:t>Trello (growing to 20)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EB5A46"/>
                          </a:solidFill>
                        </a:defRPr>
                      </a:pPr>
                      <a:r>
                        <a:t>$1,050</a:t>
                      </a:r>
                    </a:p>
                  </a:txBody>
                  <a:tcPr>
                    <a:solidFill>
                      <a:srgbClr val="FCE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EB5A46"/>
                          </a:solidFill>
                        </a:defRPr>
                      </a:pPr>
                      <a:r>
                        <a:t>$1,800</a:t>
                      </a:r>
                    </a:p>
                  </a:txBody>
                  <a:tcPr>
                    <a:solidFill>
                      <a:srgbClr val="FCE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EB5A46"/>
                          </a:solidFill>
                        </a:defRPr>
                      </a:pPr>
                      <a:r>
                        <a:t>$2,400</a:t>
                      </a:r>
                    </a:p>
                  </a:txBody>
                  <a:tcPr>
                    <a:solidFill>
                      <a:srgbClr val="FCE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EB5A46"/>
                          </a:solidFill>
                        </a:defRPr>
                      </a:pPr>
                      <a:r>
                        <a:t>$3,000</a:t>
                      </a:r>
                    </a:p>
                  </a:txBody>
                  <a:tcPr>
                    <a:solidFill>
                      <a:srgbClr val="FCE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EB5A46"/>
                          </a:solidFill>
                        </a:defRPr>
                      </a:pPr>
                      <a:r>
                        <a:t>$3,000</a:t>
                      </a:r>
                    </a:p>
                  </a:txBody>
                  <a:tcPr>
                    <a:solidFill>
                      <a:srgbClr val="FCE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B5A46"/>
                          </a:solidFill>
                        </a:defRPr>
                      </a:pPr>
                      <a:r>
                        <a:t>$11,250</a:t>
                      </a:r>
                    </a:p>
                  </a:txBody>
                  <a:tcPr>
                    <a:solidFill>
                      <a:srgbClr val="FCEAE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172B4D"/>
                          </a:solidFill>
                        </a:defRPr>
                      </a:pPr>
                      <a:r>
                        <a:t>FHE Project Board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61BD4F"/>
                          </a:solidFill>
                        </a:defRPr>
                      </a:pPr>
                      <a:r>
                        <a:t>$500</a:t>
                      </a:r>
                    </a:p>
                  </a:txBody>
                  <a:tcPr>
                    <a:solidFill>
                      <a:srgbClr val="E4F7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61BD4F"/>
                          </a:solidFill>
                        </a:defRPr>
                      </a:pPr>
                      <a:r>
                        <a:t>$255</a:t>
                      </a:r>
                    </a:p>
                  </a:txBody>
                  <a:tcPr>
                    <a:solidFill>
                      <a:srgbClr val="E4F7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61BD4F"/>
                          </a:solidFill>
                        </a:defRPr>
                      </a:pPr>
                      <a:r>
                        <a:t>$255</a:t>
                      </a:r>
                    </a:p>
                  </a:txBody>
                  <a:tcPr>
                    <a:solidFill>
                      <a:srgbClr val="E4F7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61BD4F"/>
                          </a:solidFill>
                        </a:defRPr>
                      </a:pPr>
                      <a:r>
                        <a:t>$255</a:t>
                      </a:r>
                    </a:p>
                  </a:txBody>
                  <a:tcPr>
                    <a:solidFill>
                      <a:srgbClr val="E4F7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61BD4F"/>
                          </a:solidFill>
                        </a:defRPr>
                      </a:pPr>
                      <a:r>
                        <a:t>$255</a:t>
                      </a:r>
                    </a:p>
                  </a:txBody>
                  <a:tcPr>
                    <a:solidFill>
                      <a:srgbClr val="E4F7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61BD4F"/>
                          </a:solidFill>
                        </a:defRPr>
                      </a:pPr>
                      <a:r>
                        <a:t>$1,520</a:t>
                      </a:r>
                    </a:p>
                  </a:txBody>
                  <a:tcPr>
                    <a:solidFill>
                      <a:srgbClr val="E4F7E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SAVINGS</a:t>
                      </a:r>
                    </a:p>
                  </a:txBody>
                  <a:tcPr>
                    <a:solidFill>
                      <a:srgbClr val="1B7A0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$550</a:t>
                      </a:r>
                    </a:p>
                  </a:txBody>
                  <a:tcPr>
                    <a:solidFill>
                      <a:srgbClr val="61BD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$1,545</a:t>
                      </a:r>
                    </a:p>
                  </a:txBody>
                  <a:tcPr>
                    <a:solidFill>
                      <a:srgbClr val="61BD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$2,145</a:t>
                      </a:r>
                    </a:p>
                  </a:txBody>
                  <a:tcPr>
                    <a:solidFill>
                      <a:srgbClr val="61BD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$2,745</a:t>
                      </a:r>
                    </a:p>
                  </a:txBody>
                  <a:tcPr>
                    <a:solidFill>
                      <a:srgbClr val="61BD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$2,745</a:t>
                      </a:r>
                    </a:p>
                  </a:txBody>
                  <a:tcPr>
                    <a:solidFill>
                      <a:srgbClr val="61BD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$9,730</a:t>
                      </a:r>
                    </a:p>
                  </a:txBody>
                  <a:tcPr>
                    <a:solidFill>
                      <a:srgbClr val="61BD4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4023360"/>
            <a:ext cx="3291840" cy="1188720"/>
          </a:xfrm>
          <a:prstGeom prst="roundRect">
            <a:avLst/>
          </a:prstGeom>
          <a:solidFill>
            <a:srgbClr val="E4F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61BD4F"/>
                </a:solidFill>
                <a:latin typeface="Calibri"/>
              </a:defRPr>
            </a:pPr>
            <a:r>
              <a:t>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1148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1BD4F"/>
                </a:solidFill>
                <a:latin typeface="Calibri"/>
              </a:defRPr>
            </a:pPr>
            <a:r>
              <a:t>BREAK-EVEN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434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72B4D"/>
                </a:solidFill>
                <a:latin typeface="Calibri"/>
              </a:defRPr>
            </a:pPr>
            <a:r>
              <a:t>Month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8463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E6C84"/>
                </a:solidFill>
                <a:latin typeface="Calibri"/>
              </a:defRPr>
            </a:pPr>
            <a:r>
              <a:t>Pays for itself in 90 days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4023360"/>
            <a:ext cx="3291840" cy="1188720"/>
          </a:xfrm>
          <a:prstGeom prst="roundRect">
            <a:avLst/>
          </a:prstGeom>
          <a:solidFill>
            <a:srgbClr val="E0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4114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0079BF"/>
                </a:solidFill>
                <a:latin typeface="Calibri"/>
              </a:defRPr>
            </a:pPr>
            <a:r>
              <a:t>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41148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9BF"/>
                </a:solidFill>
                <a:latin typeface="Calibri"/>
              </a:defRPr>
            </a:pPr>
            <a:r>
              <a:t>COST PER NEW HIRE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4434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72B4D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48463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E6C84"/>
                </a:solidFill>
                <a:latin typeface="Calibri"/>
              </a:defRPr>
            </a:pPr>
            <a:r>
              <a:t>vs $12.50/month with Trello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4023360"/>
            <a:ext cx="3291840" cy="1188720"/>
          </a:xfrm>
          <a:prstGeom prst="roundRect">
            <a:avLst/>
          </a:prstGeom>
          <a:solidFill>
            <a:srgbClr val="FFF4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4114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D29034"/>
                </a:solidFill>
                <a:latin typeface="Calibri"/>
              </a:defRPr>
            </a:pPr>
            <a:r>
              <a:t>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41148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29034"/>
                </a:solidFill>
                <a:latin typeface="Calibri"/>
              </a:defRPr>
            </a:pPr>
            <a:r>
              <a:t>5-YEAR SAVINGS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4434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72B4D"/>
                </a:solidFill>
                <a:latin typeface="Calibri"/>
              </a:defRPr>
            </a:pPr>
            <a:r>
              <a:t>$9,730+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48463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E6C84"/>
                </a:solidFill>
                <a:latin typeface="Calibri"/>
              </a:defRPr>
            </a:pPr>
            <a:r>
              <a:t>Conservative estimate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76072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5E6C84"/>
                </a:solidFill>
                <a:latin typeface="Calibri"/>
              </a:defRPr>
            </a:pPr>
            <a:r>
              <a:t>"Every new hire is FREE, not $12.50/month. Growth should make us money, not cost us more in software."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75520" y="109728"/>
            <a:ext cx="777240" cy="777240"/>
          </a:xfrm>
          <a:prstGeom prst="roundRect">
            <a:avLst/>
          </a:prstGeom>
          <a:solidFill>
            <a:srgbClr val="026AA7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0" y="249631"/>
            <a:ext cx="777240" cy="34975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FHE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0" y="537210"/>
            <a:ext cx="777240" cy="2331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" b="1">
                <a:solidFill>
                  <a:srgbClr val="FFFFFF"/>
                </a:solidFill>
              </a:defRPr>
            </a:pPr>
            <a:r>
              <a:t>ENGINEERING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A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But Wait, There's More!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E6C84"/>
                </a:solidFill>
                <a:latin typeface="Calibri"/>
              </a:defRPr>
            </a:pPr>
            <a:r>
              <a:t>(We promise this isn't an infomercial)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011680"/>
          </a:xfrm>
          <a:prstGeom prst="round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AECC"/>
                </a:solidFill>
                <a:latin typeface="Calibri"/>
              </a:defRPr>
            </a:pPr>
            <a:r>
              <a:t>✉ Email Automation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4572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E6C84"/>
                </a:solidFill>
                <a:latin typeface="Calibri"/>
              </a:defRPr>
            </a:pPr>
            <a:r>
              <a:t>Incoming emails automatically become task cards.</a:t>
            </a:r>
            <a:br/>
            <a:r>
              <a:t>Filter by sender, subject, recipient.</a:t>
            </a:r>
            <a:br/>
            <a:r>
              <a:t>No more manual data entry.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554480"/>
            <a:ext cx="5394960" cy="2011680"/>
          </a:xfrm>
          <a:prstGeom prst="round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737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AECC"/>
                </a:solidFill>
                <a:latin typeface="Calibri"/>
              </a:defRPr>
            </a:pPr>
            <a:r>
              <a:t>⚙ Custom Workflows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240280"/>
            <a:ext cx="4572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E6C84"/>
                </a:solidFill>
                <a:latin typeface="Calibri"/>
              </a:defRPr>
            </a:pPr>
            <a:r>
              <a:t>Tailored to how FHE actually works.</a:t>
            </a:r>
            <a:br/>
            <a:r>
              <a:t>Not forced into Trello's templates.</a:t>
            </a:r>
            <a:br/>
            <a:r>
              <a:t>Our processes, our rules.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31920"/>
            <a:ext cx="5394960" cy="2011680"/>
          </a:xfrm>
          <a:prstGeom prst="round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114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AECC"/>
                </a:solidFill>
                <a:latin typeface="Calibri"/>
              </a:defRPr>
            </a:pPr>
            <a:r>
              <a:t>🔒 Full Data Ownership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617720"/>
            <a:ext cx="4572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E6C84"/>
                </a:solidFill>
                <a:latin typeface="Calibri"/>
              </a:defRPr>
            </a:pPr>
            <a:r>
              <a:t>Data stays on OUR servers.</a:t>
            </a:r>
            <a:br/>
            <a:r>
              <a:t>No third-party access. Full compliance.</a:t>
            </a:r>
            <a:br/>
            <a:r>
              <a:t>Backup on our schedule.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931920"/>
            <a:ext cx="5394960" cy="2011680"/>
          </a:xfrm>
          <a:prstGeom prst="round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0" y="4114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AECC"/>
                </a:solidFill>
                <a:latin typeface="Calibri"/>
              </a:defRPr>
            </a:pPr>
            <a:r>
              <a:t>📱 Works Everywhere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4617720"/>
            <a:ext cx="4572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E6C84"/>
                </a:solidFill>
                <a:latin typeface="Calibri"/>
              </a:defRPr>
            </a:pPr>
            <a:r>
              <a:t>Mobile responsive PWA.</a:t>
            </a:r>
            <a:br/>
            <a:r>
              <a:t>Desktop, tablet, phone.</a:t>
            </a:r>
            <a:br/>
            <a:r>
              <a:t>Offline support built in.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612648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E6C84"/>
                </a:solidFill>
                <a:latin typeface="Calibri"/>
              </a:defRPr>
            </a:pPr>
            <a:r>
              <a:t>"No more 'Sorry, that's a Premium feature.' Everything is a Premium feature. It's ours."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875520" y="109728"/>
            <a:ext cx="777240" cy="777240"/>
          </a:xfrm>
          <a:prstGeom prst="roundRect">
            <a:avLst/>
          </a:prstGeom>
          <a:solidFill>
            <a:srgbClr val="026AA7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0" y="249631"/>
            <a:ext cx="777240" cy="34975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FHE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537210"/>
            <a:ext cx="777240" cy="2331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" b="1">
                <a:solidFill>
                  <a:srgbClr val="FFFFFF"/>
                </a:solidFill>
              </a:defRPr>
            </a:pPr>
            <a:r>
              <a:t>ENGINEERING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007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The Ask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645920"/>
            <a:ext cx="3291840" cy="2743200"/>
          </a:xfrm>
          <a:prstGeom prst="round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645920"/>
            <a:ext cx="3291840" cy="73152"/>
          </a:xfrm>
          <a:prstGeom prst="rect">
            <a:avLst/>
          </a:prstGeom>
          <a:solidFill>
            <a:srgbClr val="007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0079BF"/>
                </a:solidFill>
                <a:latin typeface="Calibri"/>
              </a:defRPr>
            </a:pPr>
            <a:r>
              <a:t>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E6C84"/>
                </a:solidFill>
                <a:latin typeface="Calibri"/>
              </a:defRPr>
            </a:pPr>
            <a:r>
              <a:t>Development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346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72B4D"/>
                </a:solidFill>
                <a:latin typeface="Calibri"/>
              </a:defRPr>
            </a:pPr>
            <a:r>
              <a:t>40-60 hours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E6C84"/>
                </a:solidFill>
                <a:latin typeface="Calibri"/>
              </a:defRPr>
            </a:pPr>
            <a:r>
              <a:t>to finish &amp; polish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63440" y="1645920"/>
            <a:ext cx="3291840" cy="2743200"/>
          </a:xfrm>
          <a:prstGeom prst="round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63440" y="1645920"/>
            <a:ext cx="3291840" cy="73152"/>
          </a:xfrm>
          <a:prstGeom prst="rect">
            <a:avLst/>
          </a:prstGeom>
          <a:solidFill>
            <a:srgbClr val="61B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19202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61BD4F"/>
                </a:solidFill>
                <a:latin typeface="Calibri"/>
              </a:defRPr>
            </a:pPr>
            <a:r>
              <a:t>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4231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E6C84"/>
                </a:solidFill>
                <a:latin typeface="Calibri"/>
              </a:defRPr>
            </a:pPr>
            <a:r>
              <a:t>Hosting Budget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8346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72B4D"/>
                </a:solidFill>
                <a:latin typeface="Calibri"/>
              </a:defRPr>
            </a:pPr>
            <a:r>
              <a:t>$20/month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3375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E6C84"/>
                </a:solidFill>
                <a:latin typeface="Calibri"/>
              </a:defRPr>
            </a:pPr>
            <a:r>
              <a:t>cloud hosting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0" y="1645920"/>
            <a:ext cx="3291840" cy="2743200"/>
          </a:xfrm>
          <a:prstGeom prst="round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12480" y="1645920"/>
            <a:ext cx="3291840" cy="73152"/>
          </a:xfrm>
          <a:prstGeom prst="rect">
            <a:avLst/>
          </a:prstGeom>
          <a:solidFill>
            <a:srgbClr val="00A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19202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00AECC"/>
                </a:solidFill>
                <a:latin typeface="Calibri"/>
              </a:defRPr>
            </a:pPr>
            <a:r>
              <a:t>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4231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E6C84"/>
                </a:solidFill>
                <a:latin typeface="Calibri"/>
              </a:defRPr>
            </a:pPr>
            <a:r>
              <a:t>Timeline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8346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72B4D"/>
                </a:solidFill>
                <a:latin typeface="Calibri"/>
              </a:defRPr>
            </a:pPr>
            <a:r>
              <a:t>2-4 weeks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3375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E6C84"/>
                </a:solidFill>
                <a:latin typeface="Calibri"/>
              </a:defRPr>
            </a:pPr>
            <a:r>
              <a:t>to full deployment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71600" y="4754880"/>
            <a:ext cx="9448495" cy="1463040"/>
          </a:xfrm>
          <a:prstGeom prst="roundRect">
            <a:avLst/>
          </a:prstGeom>
          <a:solidFill>
            <a:srgbClr val="E4F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28800" y="48920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72B4D"/>
                </a:solidFill>
                <a:latin typeface="Calibri"/>
              </a:defRPr>
            </a:pPr>
            <a:r>
              <a:t>To put it in perspective: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52120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72B4D"/>
                </a:solidFill>
                <a:latin typeface="Calibri"/>
              </a:defRPr>
            </a:pPr>
            <a:r>
              <a:t>Total investment is less than ONE MONTH of Trello at scale ($250)</a:t>
            </a:r>
          </a:p>
          <a:p>
            <a:pPr>
              <a:spcBef>
                <a:spcPts val="600"/>
              </a:spcBef>
              <a:defRPr sz="1600" b="1">
                <a:solidFill>
                  <a:srgbClr val="61BD4F"/>
                </a:solidFill>
                <a:latin typeface="Calibri"/>
              </a:defRPr>
            </a:pPr>
            <a:r>
              <a:t>We already have a working prototype (you just saw it)</a:t>
            </a:r>
          </a:p>
          <a:p>
            <a:pPr>
              <a:spcBef>
                <a:spcPts val="600"/>
              </a:spcBef>
              <a:defRPr sz="1600" b="0">
                <a:solidFill>
                  <a:srgbClr val="172B4D"/>
                </a:solidFill>
                <a:latin typeface="Calibri"/>
              </a:defRPr>
            </a:pPr>
            <a:r>
              <a:t>ROI is positive by Month 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75520" y="109728"/>
            <a:ext cx="777240" cy="777240"/>
          </a:xfrm>
          <a:prstGeom prst="roundRect">
            <a:avLst/>
          </a:prstGeom>
          <a:solidFill>
            <a:srgbClr val="026AA7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0" y="249631"/>
            <a:ext cx="777240" cy="34975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FHE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537210"/>
            <a:ext cx="777240" cy="2331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" b="1">
                <a:solidFill>
                  <a:srgbClr val="FFFFFF"/>
                </a:solidFill>
              </a:defRPr>
            </a:pPr>
            <a:r>
              <a:t>ENGINEERING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61B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31520" y="5029200"/>
            <a:ext cx="2286000" cy="2286000"/>
          </a:xfrm>
          <a:prstGeom prst="ellipse">
            <a:avLst/>
          </a:prstGeom>
          <a:solidFill>
            <a:srgbClr val="014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15600" y="-457200"/>
            <a:ext cx="2286000" cy="2286000"/>
          </a:xfrm>
          <a:prstGeom prst="ellipse">
            <a:avLst/>
          </a:prstGeom>
          <a:solidFill>
            <a:srgbClr val="0145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Own Your Tools.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61BD4F"/>
                </a:solidFill>
                <a:latin typeface="Calibri"/>
              </a:defRPr>
            </a:pPr>
            <a:r>
              <a:t>Own Your Future.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291840"/>
            <a:ext cx="2133295" cy="36576"/>
          </a:xfrm>
          <a:prstGeom prst="rect">
            <a:avLst/>
          </a:prstGeom>
          <a:solidFill>
            <a:srgbClr val="007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56616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79BF"/>
                </a:solidFill>
                <a:latin typeface="Calibri"/>
              </a:defRPr>
            </a:pPr>
            <a:r>
              <a:t>FHE Project 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5E6C84"/>
                </a:solidFill>
                <a:latin typeface="Calibri"/>
              </a:defRPr>
            </a:pPr>
            <a:r>
              <a:t>Built by Engineers, for Engineers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9487" y="4754880"/>
            <a:ext cx="2377440" cy="640080"/>
          </a:xfrm>
          <a:prstGeom prst="roundRect">
            <a:avLst/>
          </a:prstGeom>
          <a:solidFill>
            <a:srgbClr val="61B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9487" y="48463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91% Cost Savings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81247" y="4754880"/>
            <a:ext cx="2377440" cy="640080"/>
          </a:xfrm>
          <a:prstGeom prst="roundRect">
            <a:avLst/>
          </a:prstGeom>
          <a:solidFill>
            <a:srgbClr val="007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1247" y="48463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Unlimited Users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4754880"/>
            <a:ext cx="2377440" cy="640080"/>
          </a:xfrm>
          <a:prstGeom prst="roundRect">
            <a:avLst/>
          </a:prstGeom>
          <a:solidFill>
            <a:srgbClr val="00A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3007" y="48463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Email Automation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84767" y="4754880"/>
            <a:ext cx="2377440" cy="640080"/>
          </a:xfrm>
          <a:prstGeom prst="roundRect">
            <a:avLst/>
          </a:prstGeom>
          <a:solidFill>
            <a:srgbClr val="896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84767" y="48463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Full Data Control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94360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E6C84"/>
                </a:solidFill>
                <a:latin typeface="Calibri"/>
              </a:defRPr>
            </a:pPr>
            <a:r>
              <a:t>P.S. Atlassian won't miss us. They have plenty of subscribers.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0" y="182880"/>
            <a:ext cx="109728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26A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0" y="380390"/>
            <a:ext cx="1097280" cy="4937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26AA7"/>
                </a:solidFill>
              </a:defRPr>
            </a:pPr>
            <a:r>
              <a:t>FHE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786384"/>
            <a:ext cx="10972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00" b="1">
                <a:solidFill>
                  <a:srgbClr val="026AA7"/>
                </a:solidFill>
              </a:defRPr>
            </a:pPr>
            <a:r>
              <a:t>ENGINEERING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