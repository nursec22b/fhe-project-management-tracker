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6AA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0" y="457200"/>
            <a:ext cx="2103120" cy="21031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079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0" y="982980"/>
            <a:ext cx="210312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100" b="1">
                <a:solidFill>
                  <a:srgbClr val="0079BF"/>
                </a:solidFill>
              </a:defRPr>
            </a:pPr>
            <a:r>
              <a:t>FHE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FHE Project 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297680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B4D2F0"/>
                </a:solidFill>
              </a:defRPr>
            </a:pPr>
            <a:r>
              <a:t>Our Own Internal Project Management Tool</a:t>
            </a:r>
            <a:br/>
            <a:r>
              <a:t>(Because Paying Trello Per Seat Was Getting Ridiculous)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5760720"/>
            <a:ext cx="6675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6B4D2"/>
                </a:solidFill>
              </a:defRPr>
            </a:pPr>
            <a:r>
              <a:t>Presented by: The Team That's Tired of Spreadsheets  |  FHE Engineering  |  2026</a:t>
            </a:r>
          </a:p>
        </p:txBody>
      </p:sp>
    </p:spTree>
  </p:cSld>
  <p:clrMapOvr>
    <a:masterClrMapping/>
  </p:clrMapOvr>
  <p:transition spd="med" advClick="1"/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/>
          </a:prstGeom>
          <a:solidFill>
            <a:srgbClr val="026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The Problem (A.K.A. "Why Are We Still Using Email Chains?")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789920" y="91440"/>
            <a:ext cx="731520" cy="7315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079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0" y="2743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79BF"/>
                </a:solidFill>
              </a:defRPr>
            </a:pPr>
            <a:r>
              <a:t>FHE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5577840" cy="2377440"/>
          </a:xfrm>
          <a:prstGeom prst="roundRect">
            <a:avLst/>
          </a:prstGeom>
          <a:solidFill>
            <a:srgbClr val="F4F5F7"/>
          </a:solidFill>
          <a:ln w="25400">
            <a:solidFill>
              <a:srgbClr val="EB5A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137160" cy="2377440"/>
          </a:xfrm>
          <a:prstGeom prst="roundRect">
            <a:avLst/>
          </a:prstGeom>
          <a:solidFill>
            <a:srgbClr val="EB5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B5A46"/>
                </a:solidFill>
              </a:defRPr>
            </a:pPr>
            <a:r>
              <a:t>Lost in the Shuffle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920240"/>
            <a:ext cx="5029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E6C84"/>
                </a:solidFill>
              </a:defRPr>
            </a:pPr>
            <a:r>
              <a:t>"Hey, did anyone see that RFI from 3 weeks ago?"</a:t>
            </a:r>
            <a:br/>
            <a:r>
              <a:t>"Check your email." "Which one? I have 4,327 unread."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188720"/>
            <a:ext cx="5577840" cy="2377440"/>
          </a:xfrm>
          <a:prstGeom prst="roundRect">
            <a:avLst/>
          </a:prstGeom>
          <a:solidFill>
            <a:srgbClr val="F4F5F7"/>
          </a:solidFill>
          <a:ln w="25400">
            <a:solidFill>
              <a:srgbClr val="D29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09360" y="1188720"/>
            <a:ext cx="137160" cy="2377440"/>
          </a:xfrm>
          <a:prstGeom prst="roundRect">
            <a:avLst/>
          </a:prstGeom>
          <a:solidFill>
            <a:srgbClr val="D29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29034"/>
                </a:solidFill>
              </a:defRPr>
            </a:pPr>
            <a:r>
              <a:t>Spreadsheet Overload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1920240"/>
            <a:ext cx="5029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E6C84"/>
                </a:solidFill>
              </a:defRPr>
            </a:pPr>
            <a:r>
              <a:t>We currently track projects in 14 different Excel files,</a:t>
            </a:r>
            <a:br/>
            <a:r>
              <a:t>3 Google Sheets, and Kevin's legendary Post-it wall.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840480"/>
            <a:ext cx="5577840" cy="2377440"/>
          </a:xfrm>
          <a:prstGeom prst="roundRect">
            <a:avLst/>
          </a:prstGeom>
          <a:solidFill>
            <a:srgbClr val="F4F5F7"/>
          </a:solidFill>
          <a:ln w="25400">
            <a:solidFill>
              <a:srgbClr val="8960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7200" y="3840480"/>
            <a:ext cx="137160" cy="2377440"/>
          </a:xfrm>
          <a:prstGeom prst="roundRect">
            <a:avLst/>
          </a:prstGeom>
          <a:solidFill>
            <a:srgbClr val="896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0233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89609E"/>
                </a:solidFill>
              </a:defRPr>
            </a:pPr>
            <a:r>
              <a:t>No Real-Time Visibility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572000"/>
            <a:ext cx="5029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E6C84"/>
                </a:solidFill>
              </a:defRPr>
            </a:pPr>
            <a:r>
              <a:t>Finding out a task is behind schedule only after</a:t>
            </a:r>
            <a:br/>
            <a:r>
              <a:t>the client calls to ask where their deliverable is.</a:t>
            </a:r>
            <a:br/>
            <a:r>
              <a:t>(Always a fun conversation.)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3840480"/>
            <a:ext cx="5577840" cy="2377440"/>
          </a:xfrm>
          <a:prstGeom prst="roundRect">
            <a:avLst/>
          </a:prstGeom>
          <a:solidFill>
            <a:srgbClr val="F4F5F7"/>
          </a:solidFill>
          <a:ln w="25400">
            <a:solidFill>
              <a:srgbClr val="026A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09360" y="3840480"/>
            <a:ext cx="137160" cy="2377440"/>
          </a:xfrm>
          <a:prstGeom prst="roundRect">
            <a:avLst/>
          </a:prstGeom>
          <a:solidFill>
            <a:srgbClr val="026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40233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26AA7"/>
                </a:solidFill>
              </a:defRPr>
            </a:pPr>
            <a:r>
              <a:t>Per-Seat Licensing Costs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4572000"/>
            <a:ext cx="5029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E6C84"/>
                </a:solidFill>
              </a:defRPr>
            </a:pPr>
            <a:r>
              <a:t>Trello/Monday/Asana want $15-25/user/month.</a:t>
            </a:r>
            <a:br/>
            <a:r>
              <a:t>With 40+ employees, that's $7,200-12,000/year</a:t>
            </a:r>
            <a:br/>
            <a:r>
              <a:t>just to move digital sticky notes around.</a:t>
            </a:r>
          </a:p>
        </p:txBody>
      </p:sp>
    </p:spTree>
  </p:cSld>
  <p:clrMapOvr>
    <a:masterClrMapping/>
  </p:clrMapOvr>
  <p:transition spd="med" advClick="1"/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/>
          </a:prstGeom>
          <a:solidFill>
            <a:srgbClr val="0079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The Solution: FHE Project Board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789920" y="91440"/>
            <a:ext cx="731520" cy="7315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079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0" y="2743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79BF"/>
                </a:solidFill>
              </a:defRPr>
            </a:pPr>
            <a:r>
              <a:t>FHE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72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5E6C84"/>
                </a:solidFill>
              </a:defRPr>
            </a:pPr>
            <a:r>
              <a:t>Like Trello, but it's ours. And free. And it doesn't send passive-aggressive upgrade emails.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28800"/>
            <a:ext cx="3566160" cy="2103120"/>
          </a:xfrm>
          <a:prstGeom prst="round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2103120"/>
            <a:ext cx="548640" cy="548640"/>
          </a:xfrm>
          <a:prstGeom prst="ellipse">
            <a:avLst/>
          </a:prstGeom>
          <a:solidFill>
            <a:srgbClr val="0079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08483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1031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72B4D"/>
                </a:solidFill>
              </a:defRPr>
            </a:pPr>
            <a:r>
              <a:t>Drag &amp; Drop Boards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74320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E6C84"/>
                </a:solidFill>
              </a:defRPr>
            </a:pPr>
            <a:r>
              <a:t>Move cards between lists with a</a:t>
            </a:r>
            <a:br/>
            <a:r>
              <a:t>satisfying drag. Works on phones too,</a:t>
            </a:r>
            <a:br/>
            <a:r>
              <a:t>for those job-site check-ins.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828800"/>
            <a:ext cx="3566160" cy="2103120"/>
          </a:xfrm>
          <a:prstGeom prst="round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72000" y="2103120"/>
            <a:ext cx="548640" cy="548640"/>
          </a:xfrm>
          <a:prstGeom prst="ellipse">
            <a:avLst/>
          </a:prstGeom>
          <a:solidFill>
            <a:srgbClr val="61B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208483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21031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72B4D"/>
                </a:solidFill>
              </a:defRPr>
            </a:pPr>
            <a:r>
              <a:t>Custom for Construction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74320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E6C84"/>
                </a:solidFill>
              </a:defRPr>
            </a:pPr>
            <a:r>
              <a:t>Built around how WE work.</a:t>
            </a:r>
            <a:br/>
            <a:r>
              <a:t>Not some Silicon Valley startup's idea</a:t>
            </a:r>
            <a:br/>
            <a:r>
              <a:t>of what project management looks like.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1828800"/>
            <a:ext cx="3566160" cy="2103120"/>
          </a:xfrm>
          <a:prstGeom prst="round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412480" y="2103120"/>
            <a:ext cx="548640" cy="548640"/>
          </a:xfrm>
          <a:prstGeom prst="ellipse">
            <a:avLst/>
          </a:prstGeom>
          <a:solidFill>
            <a:srgbClr val="D29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208483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21031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72B4D"/>
                </a:solidFill>
              </a:defRPr>
            </a:pPr>
            <a:r>
              <a:t>Checklists &amp; Due Dates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274320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E6C84"/>
                </a:solidFill>
              </a:defRPr>
            </a:pPr>
            <a:r>
              <a:t>Track subtasks, deadlines, and who's</a:t>
            </a:r>
            <a:br/>
            <a:r>
              <a:t>responsible. No more "I thought</a:t>
            </a:r>
            <a:br/>
            <a:r>
              <a:t>Tom was handling that."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206240"/>
            <a:ext cx="3566160" cy="2103120"/>
          </a:xfrm>
          <a:prstGeom prst="round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31520" y="4480560"/>
            <a:ext cx="548640" cy="548640"/>
          </a:xfrm>
          <a:prstGeom prst="ellipse">
            <a:avLst/>
          </a:prstGeom>
          <a:solidFill>
            <a:srgbClr val="896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46227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44805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72B4D"/>
                </a:solidFill>
              </a:defRPr>
            </a:pPr>
            <a:r>
              <a:t>Zero Per-Seat Cost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12064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E6C84"/>
                </a:solidFill>
              </a:defRPr>
            </a:pPr>
            <a:r>
              <a:t>Host it ourselves. 40 users? 400 users?</a:t>
            </a:r>
            <a:br/>
            <a:r>
              <a:t>Same price: $0/month.</a:t>
            </a:r>
            <a:br/>
            <a:r>
              <a:t>Finance department, you're welcome.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97680" y="4206240"/>
            <a:ext cx="3566160" cy="2103120"/>
          </a:xfrm>
          <a:prstGeom prst="round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572000" y="4480560"/>
            <a:ext cx="548640" cy="548640"/>
          </a:xfrm>
          <a:prstGeom prst="ellipse">
            <a:avLst/>
          </a:prstGeom>
          <a:solidFill>
            <a:srgbClr val="EB5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0" y="446227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03520" y="44805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72B4D"/>
                </a:solidFill>
              </a:defRPr>
            </a:pPr>
            <a:r>
              <a:t>Real-Time Updates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512064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E6C84"/>
                </a:solidFill>
              </a:defRPr>
            </a:pPr>
            <a:r>
              <a:t>Everyone sees changes instantly.</a:t>
            </a:r>
            <a:br/>
            <a:r>
              <a:t>No more emailing spreadsheets back</a:t>
            </a:r>
            <a:br/>
            <a:r>
              <a:t>and forth like it's 2005.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38160" y="4206240"/>
            <a:ext cx="3566160" cy="2103120"/>
          </a:xfrm>
          <a:prstGeom prst="round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412480" y="4480560"/>
            <a:ext cx="548640" cy="548640"/>
          </a:xfrm>
          <a:prstGeom prst="ellipse">
            <a:avLst/>
          </a:prstGeom>
          <a:solidFill>
            <a:srgbClr val="00A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80" y="446227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44805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72B4D"/>
                </a:solidFill>
              </a:defRPr>
            </a:pPr>
            <a:r>
              <a:t>Works Everywhere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0" y="512064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E6C84"/>
                </a:solidFill>
              </a:defRPr>
            </a:pPr>
            <a:r>
              <a:t>Desktop, tablet, phone.</a:t>
            </a:r>
            <a:br/>
            <a:r>
              <a:t>Check project status from the job site,</a:t>
            </a:r>
            <a:br/>
            <a:r>
              <a:t>the office, or the couch. (We won't tell.)</a:t>
            </a:r>
          </a:p>
        </p:txBody>
      </p:sp>
    </p:spTree>
  </p:cSld>
  <p:clrMapOvr>
    <a:masterClrMapping/>
  </p:clrMapOvr>
  <p:transition spd="med" advClick="1"/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/>
          </a:prstGeom>
          <a:solidFill>
            <a:srgbClr val="5198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The Money Slide (A.K.A. "The Reason You'll Say Yes")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789920" y="91440"/>
            <a:ext cx="731520" cy="7315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079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0" y="2743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79BF"/>
                </a:solidFill>
              </a:defRPr>
            </a:pPr>
            <a:r>
              <a:t>FHE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2651760" cy="3200400"/>
          </a:xfrm>
          <a:prstGeom prst="roundRect">
            <a:avLst/>
          </a:prstGeom>
          <a:solidFill>
            <a:srgbClr val="FEF0F0"/>
          </a:solidFill>
          <a:ln w="25400">
            <a:solidFill>
              <a:srgbClr val="EB5A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72B4D"/>
                </a:solidFill>
              </a:defRPr>
            </a:pPr>
            <a:r>
              <a:t>Trello Business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E6C84"/>
                </a:solidFill>
              </a:defRPr>
            </a:pPr>
            <a:r>
              <a:t>$12.50/user/mo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5603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B5A46"/>
                </a:solidFill>
              </a:defRPr>
            </a:pPr>
            <a:r>
              <a:t>$6,000/yr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383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E6C84"/>
                </a:solidFill>
              </a:defRPr>
            </a:pPr>
            <a:r>
              <a:t>for 40 users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7490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172B4D"/>
                </a:solidFill>
              </a:defRPr>
            </a:pPr>
            <a:r>
              <a:t>👎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1188720"/>
            <a:ext cx="2651760" cy="3200400"/>
          </a:xfrm>
          <a:prstGeom prst="roundRect">
            <a:avLst/>
          </a:prstGeom>
          <a:solidFill>
            <a:srgbClr val="FEF0F0"/>
          </a:solidFill>
          <a:ln w="25400">
            <a:solidFill>
              <a:srgbClr val="EB5A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14630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72B4D"/>
                </a:solidFill>
              </a:defRPr>
            </a:pPr>
            <a:r>
              <a:t>Monday.com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0116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E6C84"/>
                </a:solidFill>
              </a:defRPr>
            </a:pPr>
            <a:r>
              <a:t>$19/user/mo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5603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B5A46"/>
                </a:solidFill>
              </a:defRPr>
            </a:pPr>
            <a:r>
              <a:t>$9,120/yr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3383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E6C84"/>
                </a:solidFill>
              </a:defRPr>
            </a:pPr>
            <a:r>
              <a:t>for 40 users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37490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172B4D"/>
                </a:solidFill>
              </a:defRPr>
            </a:pPr>
            <a:r>
              <a:t>👎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1188720"/>
            <a:ext cx="2651760" cy="3200400"/>
          </a:xfrm>
          <a:prstGeom prst="roundRect">
            <a:avLst/>
          </a:prstGeom>
          <a:solidFill>
            <a:srgbClr val="FEF0F0"/>
          </a:solidFill>
          <a:ln w="25400">
            <a:solidFill>
              <a:srgbClr val="EB5A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4630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72B4D"/>
                </a:solidFill>
              </a:defRPr>
            </a:pPr>
            <a:r>
              <a:t>Asana Business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0116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E6C84"/>
                </a:solidFill>
              </a:defRPr>
            </a:pPr>
            <a:r>
              <a:t>$24.99/user/mo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5603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B5A46"/>
                </a:solidFill>
              </a:defRPr>
            </a:pPr>
            <a:r>
              <a:t>$11,995/yr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383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E6C84"/>
                </a:solidFill>
              </a:defRPr>
            </a:pPr>
            <a:r>
              <a:t>for 40 users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7490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172B4D"/>
                </a:solidFill>
              </a:defRPr>
            </a:pPr>
            <a:r>
              <a:t>👎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1188720"/>
            <a:ext cx="2651760" cy="3200400"/>
          </a:xfrm>
          <a:prstGeom prst="roundRect">
            <a:avLst/>
          </a:prstGeom>
          <a:solidFill>
            <a:srgbClr val="E1F8DC"/>
          </a:solidFill>
          <a:ln w="25400">
            <a:solidFill>
              <a:srgbClr val="61B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20" y="14630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72B4D"/>
                </a:solidFill>
              </a:defRPr>
            </a:pPr>
            <a:r>
              <a:t>FHE Board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0" y="20116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E6C84"/>
                </a:solidFill>
              </a:defRPr>
            </a:pPr>
            <a:r>
              <a:t>Built in-house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20" y="25603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61BD4F"/>
                </a:solidFill>
              </a:defRPr>
            </a:pPr>
            <a:r>
              <a:t>$0/yr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0" y="3383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E6C84"/>
                </a:solidFill>
              </a:defRPr>
            </a:pPr>
            <a:r>
              <a:t>unlimited users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8320" y="37490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172B4D"/>
                </a:solidFill>
              </a:defRPr>
            </a:pPr>
            <a:r>
              <a:t>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" y="4754880"/>
            <a:ext cx="10332720" cy="1645920"/>
          </a:xfrm>
          <a:prstGeom prst="roundRect">
            <a:avLst/>
          </a:prstGeom>
          <a:solidFill>
            <a:srgbClr val="026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71600" y="4846320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Projected 3-Year Savings: $18,000 - $36,000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548640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4D2F0"/>
                </a:solidFill>
              </a:defRPr>
            </a:pPr>
            <a:r>
              <a:t>That's roughly one new F-150 for the fleet. Or 7,200 cups of coffee. Or one really nice office chair for the boss.</a:t>
            </a:r>
            <a:br/>
            <a:r>
              <a:t>(Just putting that out there.)</a:t>
            </a:r>
          </a:p>
        </p:txBody>
      </p:sp>
    </p:spTree>
  </p:cSld>
  <p:clrMapOvr>
    <a:masterClrMapping/>
  </p:clrMapOvr>
  <p:transition spd="med" advClick="1"/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/>
          </a:prstGeom>
          <a:solidFill>
            <a:srgbClr val="0079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What It Actually Looks Like (It's Pretty Slick)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789920" y="91440"/>
            <a:ext cx="731520" cy="7315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079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0" y="2743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79BF"/>
                </a:solidFill>
              </a:defRPr>
            </a:pPr>
            <a:r>
              <a:t>FHE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47120" cy="5303520"/>
          </a:xfrm>
          <a:prstGeom prst="roundRect">
            <a:avLst/>
          </a:prstGeom>
          <a:solidFill>
            <a:srgbClr val="0079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280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Highway 441 Bridge Expansion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2011680" cy="2560320"/>
          </a:xfrm>
          <a:prstGeom prst="roundRect">
            <a:avLst/>
          </a:prstGeom>
          <a:solidFill>
            <a:srgbClr val="EB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9202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72B4D"/>
                </a:solidFill>
              </a:defRPr>
            </a:pPr>
            <a:r>
              <a:t>Planning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286000"/>
            <a:ext cx="1828800" cy="594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3774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72B4D"/>
                </a:solidFill>
              </a:defRPr>
            </a:pPr>
            <a:r>
              <a:t>Site survey &amp; soil analysis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017520"/>
            <a:ext cx="1828800" cy="594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72B4D"/>
                </a:solidFill>
              </a:defRPr>
            </a:pPr>
            <a:r>
              <a:t>Environmental impact assessment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26080" y="1828800"/>
            <a:ext cx="2011680" cy="2560320"/>
          </a:xfrm>
          <a:prstGeom prst="roundRect">
            <a:avLst/>
          </a:prstGeom>
          <a:solidFill>
            <a:srgbClr val="EB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63240" y="19202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72B4D"/>
                </a:solidFill>
              </a:defRPr>
            </a:pPr>
            <a:r>
              <a:t>Design Review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17520" y="2286000"/>
            <a:ext cx="1828800" cy="594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08960" y="23774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72B4D"/>
                </a:solidFill>
              </a:defRPr>
            </a:pPr>
            <a:r>
              <a:t>Structural load calculations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017520" y="3017520"/>
            <a:ext cx="1828800" cy="594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72B4D"/>
                </a:solidFill>
              </a:defRPr>
            </a:pPr>
            <a:r>
              <a:t>Traffic management plan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20640" y="1828800"/>
            <a:ext cx="2011680" cy="1828800"/>
          </a:xfrm>
          <a:prstGeom prst="roundRect">
            <a:avLst/>
          </a:prstGeom>
          <a:solidFill>
            <a:srgbClr val="EB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57800" y="19202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72B4D"/>
                </a:solidFill>
              </a:defRPr>
            </a:pPr>
            <a:r>
              <a:t>In Progress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212080" y="2286000"/>
            <a:ext cx="1828800" cy="594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0" y="23774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72B4D"/>
                </a:solidFill>
              </a:defRPr>
            </a:pPr>
            <a:r>
              <a:t>Utility relocation coord.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0" y="1828800"/>
            <a:ext cx="2011680" cy="1097280"/>
          </a:xfrm>
          <a:prstGeom prst="roundRect">
            <a:avLst/>
          </a:prstGeom>
          <a:solidFill>
            <a:srgbClr val="EB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52360" y="19202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72B4D"/>
                </a:solidFill>
              </a:defRPr>
            </a:pPr>
            <a:r>
              <a:t>QA / Inspection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509760" y="1828800"/>
            <a:ext cx="2011680" cy="1828800"/>
          </a:xfrm>
          <a:prstGeom prst="roundRect">
            <a:avLst/>
          </a:prstGeom>
          <a:solidFill>
            <a:srgbClr val="EB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46920" y="19202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72B4D"/>
                </a:solidFill>
              </a:defRPr>
            </a:pPr>
            <a:r>
              <a:t>Complete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601200" y="2286000"/>
            <a:ext cx="1828800" cy="594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92640" y="23774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72B4D"/>
                </a:solidFill>
              </a:defRPr>
            </a:pPr>
            <a:r>
              <a:t>Client kickoff meeting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029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↑  Drag cards between columns  •  Click to see details  •  Works on your phone at the job site  ↑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28800" y="5760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4D2F0"/>
                </a:solidFill>
              </a:defRPr>
            </a:pPr>
            <a:r>
              <a:t>Yes, this is a real working prototype. No, it's not just fancy screenshots. Try it yourself!</a:t>
            </a:r>
          </a:p>
        </p:txBody>
      </p:sp>
    </p:spTree>
  </p:cSld>
  <p:clrMapOvr>
    <a:masterClrMapping/>
  </p:clrMapOvr>
  <p:transition spd="med" advClick="1"/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/>
          </a:prstGeom>
          <a:solidFill>
            <a:srgbClr val="D29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The Roadmap (We've Already Started, FYI)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789920" y="91440"/>
            <a:ext cx="731520" cy="7315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079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0" y="2743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79BF"/>
                </a:solidFill>
              </a:defRPr>
            </a:pPr>
            <a:r>
              <a:t>FHE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737360" y="1463040"/>
            <a:ext cx="2926080" cy="54864"/>
          </a:xfrm>
          <a:prstGeom prst="roundRect">
            <a:avLst/>
          </a:prstGeom>
          <a:solidFill>
            <a:srgbClr val="61B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54480" y="1280160"/>
            <a:ext cx="457200" cy="457200"/>
          </a:xfrm>
          <a:prstGeom prst="ellipse">
            <a:avLst/>
          </a:prstGeom>
          <a:solidFill>
            <a:srgbClr val="61B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126187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72B4D"/>
                </a:solidFill>
              </a:defRPr>
            </a:pPr>
            <a:r>
              <a:t>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011680"/>
            <a:ext cx="2743200" cy="3657600"/>
          </a:xfrm>
          <a:prstGeom prst="roundRect">
            <a:avLst/>
          </a:prstGeom>
          <a:solidFill>
            <a:srgbClr val="F4F5F7"/>
          </a:solidFill>
          <a:ln w="25400">
            <a:solidFill>
              <a:srgbClr val="61B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1945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1BD4F"/>
                </a:solidFill>
              </a:defRPr>
            </a:pPr>
            <a:r>
              <a:t>Phase 1 - NOW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5603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72B4D"/>
                </a:solidFill>
              </a:defRPr>
            </a:pPr>
            <a:r>
              <a:t>Core Board (DONE!)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20040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E6C84"/>
                </a:solidFill>
              </a:defRPr>
            </a:pPr>
            <a:r>
              <a:t>Kanban boards, drag &amp; drop,</a:t>
            </a:r>
            <a:br/>
            <a:r>
              <a:t>cards, lists, labels, due dates.</a:t>
            </a:r>
            <a:br/>
            <a:r>
              <a:t>AKA: The thing you're looking at.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1463040"/>
            <a:ext cx="2926080" cy="54864"/>
          </a:xfrm>
          <a:prstGeom prst="roundRect">
            <a:avLst/>
          </a:prstGeom>
          <a:solidFill>
            <a:srgbClr val="0079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480560" y="1280160"/>
            <a:ext cx="457200" cy="457200"/>
          </a:xfrm>
          <a:prstGeom prst="ellipse">
            <a:avLst/>
          </a:prstGeom>
          <a:solidFill>
            <a:srgbClr val="0079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126187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72B4D"/>
                </a:solidFill>
              </a:defRPr>
            </a:pPr>
            <a:r>
              <a:t>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83280" y="2011680"/>
            <a:ext cx="2743200" cy="3657600"/>
          </a:xfrm>
          <a:prstGeom prst="roundRect">
            <a:avLst/>
          </a:prstGeom>
          <a:solidFill>
            <a:srgbClr val="F4F5F7"/>
          </a:solidFill>
          <a:ln w="25400">
            <a:solidFill>
              <a:srgbClr val="0079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66160" y="21945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9BF"/>
                </a:solidFill>
              </a:defRPr>
            </a:pPr>
            <a:r>
              <a:t>Phase 2 - Q2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25603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72B4D"/>
                </a:solidFill>
              </a:defRPr>
            </a:pPr>
            <a:r>
              <a:t>Team Features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320040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E6C84"/>
                </a:solidFill>
              </a:defRPr>
            </a:pPr>
            <a:r>
              <a:t>User accounts, role permissions,</a:t>
            </a:r>
            <a:br/>
            <a:r>
              <a:t>assign tasks to team members,</a:t>
            </a:r>
            <a:br/>
            <a:r>
              <a:t>email notifications.</a:t>
            </a:r>
            <a:br/>
            <a:r>
              <a:t>Bye-bye, "I didn't get that email."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89520" y="1463040"/>
            <a:ext cx="2926080" cy="54864"/>
          </a:xfrm>
          <a:prstGeom prst="roundRect">
            <a:avLst/>
          </a:prstGeom>
          <a:solidFill>
            <a:srgbClr val="896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406640" y="1280160"/>
            <a:ext cx="457200" cy="457200"/>
          </a:xfrm>
          <a:prstGeom prst="ellipse">
            <a:avLst/>
          </a:prstGeom>
          <a:solidFill>
            <a:srgbClr val="896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0" y="126187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72B4D"/>
                </a:solidFill>
              </a:defRPr>
            </a:pPr>
            <a:r>
              <a:t>🔌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2011680"/>
            <a:ext cx="2743200" cy="3657600"/>
          </a:xfrm>
          <a:prstGeom prst="roundRect">
            <a:avLst/>
          </a:prstGeom>
          <a:solidFill>
            <a:srgbClr val="F4F5F7"/>
          </a:solidFill>
          <a:ln w="25400">
            <a:solidFill>
              <a:srgbClr val="8960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21945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9609E"/>
                </a:solidFill>
              </a:defRPr>
            </a:pPr>
            <a:r>
              <a:t>Phase 3 - Q3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25603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72B4D"/>
                </a:solidFill>
              </a:defRPr>
            </a:pPr>
            <a:r>
              <a:t>Integrations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320040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E6C84"/>
                </a:solidFill>
              </a:defRPr>
            </a:pPr>
            <a:r>
              <a:t>Connect to QuickBooks, fleet</a:t>
            </a:r>
            <a:br/>
            <a:r>
              <a:t>tracking, time sheets. One</a:t>
            </a:r>
            <a:br/>
            <a:r>
              <a:t>dashboard to rule them all.</a:t>
            </a:r>
          </a:p>
        </p:txBody>
      </p:sp>
      <p:sp>
        <p:nvSpPr>
          <p:cNvPr id="27" name="Oval 26"/>
          <p:cNvSpPr/>
          <p:nvPr/>
        </p:nvSpPr>
        <p:spPr>
          <a:xfrm>
            <a:off x="10332720" y="1280160"/>
            <a:ext cx="457200" cy="457200"/>
          </a:xfrm>
          <a:prstGeom prst="ellipse">
            <a:avLst/>
          </a:prstGeom>
          <a:solidFill>
            <a:srgbClr val="D29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32720" y="126187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72B4D"/>
                </a:solidFill>
              </a:defRPr>
            </a:pPr>
            <a:r>
              <a:t>📱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235440" y="2011680"/>
            <a:ext cx="2743200" cy="3657600"/>
          </a:xfrm>
          <a:prstGeom prst="roundRect">
            <a:avLst/>
          </a:prstGeom>
          <a:solidFill>
            <a:srgbClr val="F4F5F7"/>
          </a:solidFill>
          <a:ln w="25400">
            <a:solidFill>
              <a:srgbClr val="D29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18320" y="21945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29034"/>
                </a:solidFill>
              </a:defRPr>
            </a:pPr>
            <a:r>
              <a:t>Phase 4 - Q4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18320" y="25603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72B4D"/>
                </a:solidFill>
              </a:defRPr>
            </a:pPr>
            <a:r>
              <a:t>Mobile App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18320" y="320040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E6C84"/>
                </a:solidFill>
              </a:defRPr>
            </a:pPr>
            <a:r>
              <a:t>Native app for iOS/Android.</a:t>
            </a:r>
            <a:br/>
            <a:r>
              <a:t>Because sometimes the WiFi at</a:t>
            </a:r>
            <a:br/>
            <a:r>
              <a:t>the job site is... aspirational.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59436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E6C84"/>
                </a:solidFill>
              </a:defRPr>
            </a:pPr>
            <a:r>
              <a:t>"The best time to build internal tools was 5 years ago. The second best time is right now." - Ancient Engineering Proverb (probably)</a:t>
            </a:r>
          </a:p>
        </p:txBody>
      </p:sp>
    </p:spTree>
  </p:cSld>
  <p:clrMapOvr>
    <a:masterClrMapping/>
  </p:clrMapOvr>
  <p:transition spd="med" advClick="1"/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6AA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0" y="274320"/>
            <a:ext cx="2103120" cy="21031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079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0" y="800100"/>
            <a:ext cx="210312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100" b="1">
                <a:solidFill>
                  <a:srgbClr val="0079BF"/>
                </a:solidFill>
              </a:defRPr>
            </a:pPr>
            <a:r>
              <a:t>FHE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5176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So... Can We Build This Thing?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3657600"/>
            <a:ext cx="7589520" cy="2011680"/>
          </a:xfrm>
          <a:prstGeom prst="roundRect">
            <a:avLst/>
          </a:prstGeom>
          <a:solidFill>
            <a:srgbClr val="03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0" y="3749039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What We Need: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4206240"/>
            <a:ext cx="6400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4D2F0"/>
                </a:solidFill>
              </a:defRPr>
            </a:pPr>
            <a:r>
              <a:t>✓  Your blessing (and maybe a thumbs up in the next meeting)</a:t>
            </a:r>
            <a:br/>
            <a:r>
              <a:t>✓  A server to host it (we already have one collecting dust)</a:t>
            </a:r>
            <a:br/>
            <a:r>
              <a:t>✓  2-3 hours/week of dev time (we'll squeeze it in between actual work)</a:t>
            </a:r>
            <a:br/>
            <a:r>
              <a:t>✓  Permission to retire at least 7 of those 14 spreadsheets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9436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8A0C8"/>
                </a:solidFill>
              </a:defRPr>
            </a:pPr>
            <a:r>
              <a:t>FHE Engineering  |  Building things that last - including our own software, apparently.</a:t>
            </a:r>
          </a:p>
        </p:txBody>
      </p:sp>
    </p:spTree>
  </p:cSld>
  <p:clrMapOvr>
    <a:masterClrMapping/>
  </p:clrMapOvr>
  <p:transition spd="med" advClick="1"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