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1828800" cy="1828800"/>
          </a:xfrm>
          <a:prstGeom prst="ellipse">
            <a:avLst/>
          </a:prstGeom>
          <a:solidFill>
            <a:srgbClr val="005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7432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594360" cy="777240"/>
          </a:xfrm>
          <a:prstGeom prst="round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83080" y="1645920"/>
            <a:ext cx="594360" cy="548640"/>
          </a:xfrm>
          <a:prstGeom prst="round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FHE Project 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AECC"/>
                </a:solidFill>
                <a:latin typeface="Calibri"/>
              </a:defRPr>
            </a:pPr>
            <a:r>
              <a:t>Why Pay Rent When You Can Own?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E6C84"/>
                </a:solidFill>
                <a:latin typeface="Calibri"/>
              </a:defRPr>
            </a:pPr>
            <a:r>
              <a:t>An Internal Project Management Tool Built By Engineers, For Engineers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1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E6C84"/>
                </a:solidFill>
                <a:latin typeface="Calibri"/>
              </a:defRPr>
            </a:pPr>
            <a:r>
              <a:t>Florida Horizon Engineering  |  February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Houston, We Have a Subscription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$62.50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$3,750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 5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72B4D"/>
                </a:solidFill>
                <a:latin typeface="Calibri"/>
              </a:defRPr>
            </a:pPr>
            <a:r>
              <a:t>5 Trello Premium licenses x $12.50/user/month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840480"/>
            <a:ext cx="9448495" cy="18288"/>
          </a:xfrm>
          <a:prstGeom prst="rect">
            <a:avLst/>
          </a:prstGeom>
          <a:solidFill>
            <a:srgbClr val="DF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114800"/>
            <a:ext cx="10362895" cy="109728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29034"/>
                </a:solidFill>
                <a:latin typeface="Calibri"/>
              </a:defRPr>
            </a:pPr>
            <a:r>
              <a:t>And it only gets worse as we grow...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10 users = $125/month = $1,500/year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20 users = $250/month = $3,000/year</a:t>
            </a:r>
          </a:p>
          <a:p>
            <a:pPr>
              <a:spcBef>
                <a:spcPts val="600"/>
              </a:spcBef>
              <a:defRPr sz="1600" b="1">
                <a:solidFill>
                  <a:srgbClr val="EB5A46"/>
                </a:solidFill>
                <a:latin typeface="Calibri"/>
              </a:defRPr>
            </a:pPr>
            <a:r>
              <a:t>20 users over 5 years = $15,000 paid to Atlassian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"Every time we add a team member, Atlassian sends us a thank-you card."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2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What Trello CAN'T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1828800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No Email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40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We need incoming emails to auto-create tasks. Trello says: 'upgrade to Enterprise.'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109728" cy="1828800"/>
          </a:xfrm>
          <a:prstGeom prst="rect">
            <a:avLst/>
          </a:prstGeom>
          <a:solidFill>
            <a:srgbClr val="D29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Per-Seat Pricing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240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Every new hire = more $$$. Growth shouldn't cost us more in software.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49039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49039"/>
            <a:ext cx="109728" cy="18288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Limited Customization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348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workflows don't fit Trello's mold. We adapt to them instead of them to 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749039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749039"/>
            <a:ext cx="109728" cy="1828800"/>
          </a:xfrm>
          <a:prstGeom prst="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Their Data, Their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4348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project data lives on Atlassian's servers. We have zero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26AA7"/>
                </a:solidFill>
                <a:latin typeface="Calibri"/>
              </a:defRPr>
            </a:pPr>
            <a:r>
              <a:t>"We're renting a tool when we could own one."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Introducing: FHE Project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AECC"/>
                </a:solidFill>
                <a:latin typeface="Calibri"/>
              </a:defRPr>
            </a:pPr>
            <a:r>
              <a:t>Built BY us, FOR us. Zero subscription fees. Unlimited users. Forever.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3474720" cy="9144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Kanban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Drag &amp; drop project management</a:t>
            </a:r>
            <a:br/>
            <a:r>
              <a:t>just like Trello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3749039"/>
            <a:ext cx="3474720" cy="91440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Email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Incoming emails automatically</a:t>
            </a:r>
            <a:br/>
            <a:r>
              <a:t>create task cards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3749039"/>
            <a:ext cx="3474720" cy="91440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Unlimited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Add 5, 50, or 500 users.</a:t>
            </a:r>
            <a:br/>
            <a:r>
              <a:t>Same cost: $0 per seat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6035040"/>
            <a:ext cx="3474720" cy="91440"/>
          </a:xfrm>
          <a:prstGeom prst="rect">
            <a:avLst/>
          </a:prstGeom>
          <a:solidFill>
            <a:srgbClr val="CD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Custom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Tailored to FHE's processes,</a:t>
            </a:r>
            <a:br/>
            <a:r>
              <a:t>not Trello's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6035040"/>
            <a:ext cx="3474720" cy="91440"/>
          </a:xfrm>
          <a:prstGeom prst="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Data Ownership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data stays on our servers.</a:t>
            </a:r>
            <a:br/>
            <a:r>
              <a:t>Full control, full privacy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6035040"/>
            <a:ext cx="3474720" cy="91440"/>
          </a:xfrm>
          <a:prstGeom prst="rect">
            <a:avLst/>
          </a:prstGeom>
          <a:solidFill>
            <a:srgbClr val="D29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Mobile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Works on any device, anywhere.</a:t>
            </a:r>
            <a:br/>
            <a:r>
              <a:t>PWA with offline support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80" y="164592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Don't Take My Word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AECC"/>
                </a:solidFill>
                <a:latin typeface="Calibri"/>
              </a:defRPr>
            </a:pPr>
            <a:r>
              <a:t>LIVE DEMO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Yes, it actually works. No, it's not a PowerPoint animation.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Show Me The Money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84048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120640" cy="548640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Trello Premium (5 years, 20 users)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B5A46"/>
                </a:solidFill>
                <a:latin typeface="Calibri"/>
              </a:defRPr>
            </a:pPr>
            <a:r>
              <a:t>$15,000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B4D"/>
                </a:solidFill>
                <a:latin typeface="Calibri"/>
              </a:defRPr>
            </a:pPr>
            <a:r>
              <a:t>$250/month at 20 users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$3,000/year recurring</a:t>
            </a:r>
          </a:p>
          <a:p>
            <a:pPr>
              <a:spcBef>
                <a:spcPts val="600"/>
              </a:spcBef>
              <a:defRPr sz="1500" b="1">
                <a:solidFill>
                  <a:srgbClr val="EB5A46"/>
                </a:solidFill>
                <a:latin typeface="Calibri"/>
              </a:defRPr>
            </a:pPr>
            <a:r>
              <a:t>Scales against you as you grow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No email automation included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Data on Atlassian servers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384048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120640" cy="548640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FHE Project Board (5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61BD4F"/>
                </a:solidFill>
                <a:latin typeface="Calibri"/>
              </a:defRPr>
            </a:pPr>
            <a:r>
              <a:t>$1,275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004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B4D"/>
                </a:solidFill>
                <a:latin typeface="Calibri"/>
              </a:defRPr>
            </a:pPr>
            <a:r>
              <a:t>~$255/year hosting + domain</a:t>
            </a:r>
          </a:p>
          <a:p>
            <a:pPr>
              <a:spcBef>
                <a:spcPts val="600"/>
              </a:spcBef>
              <a:defRPr sz="1500" b="1">
                <a:solidFill>
                  <a:srgbClr val="61BD4F"/>
                </a:solidFill>
                <a:latin typeface="Calibri"/>
              </a:defRPr>
            </a:pPr>
            <a:r>
              <a:t>UNLIMITED users - no per-seat cost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Email automation BUILT IN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Full data ownership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Custom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5577840"/>
            <a:ext cx="7619695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566928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1BD4F"/>
                </a:solidFill>
                <a:latin typeface="Calibri"/>
              </a:defRPr>
            </a:pPr>
            <a:r>
              <a:t>SAVE $13,725+ OVER 5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612648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That's 91% less than Trello. Math doesn't lie.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Math Doesn't Lie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72B4D"/>
                          </a:solidFill>
                        </a:defRPr>
                      </a:pPr>
                      <a:r>
                        <a:t>Trello (growing to 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$1,050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$2,400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B5A46"/>
                          </a:solidFill>
                        </a:defRPr>
                      </a:pPr>
                      <a:r>
                        <a:t>$11,250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72B4D"/>
                          </a:solidFill>
                        </a:defRPr>
                      </a:pPr>
                      <a:r>
                        <a:t>FHE Project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$500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1BD4F"/>
                          </a:solidFill>
                        </a:defRPr>
                      </a:pPr>
                      <a:r>
                        <a:t>$1,520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1B7A0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$550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$1,545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$2,145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$2,745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$2,745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$9,730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023360"/>
            <a:ext cx="3291840" cy="118872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1BD4F"/>
                </a:solidFill>
                <a:latin typeface="Calibri"/>
              </a:defRPr>
            </a:pPr>
            <a:r>
              <a:t>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1BD4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Pays for itself in 90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4023360"/>
            <a:ext cx="3291840" cy="1188720"/>
          </a:xfrm>
          <a:prstGeom prst="roundRect">
            <a:avLst/>
          </a:prstGeom>
          <a:solidFill>
            <a:srgbClr val="E0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79B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9BF"/>
                </a:solidFill>
                <a:latin typeface="Calibri"/>
              </a:defRPr>
            </a:pPr>
            <a:r>
              <a:t>COST PER NEW HIRE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vs $12.50/month with Trello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023360"/>
            <a:ext cx="3291840" cy="11887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D29034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29034"/>
                </a:solidFill>
                <a:latin typeface="Calibri"/>
              </a:defRPr>
            </a:pPr>
            <a:r>
              <a:t>5-YEAR SAVINGS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$9,730+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Conservative estimate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E6C84"/>
                </a:solidFill>
                <a:latin typeface="Calibri"/>
              </a:defRPr>
            </a:pPr>
            <a:r>
              <a:t>"Every new hire is FREE, not $12.50/month. Growth should make us money, not cost us more in software."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But Wait, There's More!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E6C84"/>
                </a:solidFill>
                <a:latin typeface="Calibri"/>
              </a:defRPr>
            </a:pPr>
            <a:r>
              <a:t>(We promise this isn't an infomercial)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✉ Email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Incoming emails automatically become task cards.</a:t>
            </a:r>
            <a:br/>
            <a:r>
              <a:t>Filter by sender, subject, recipient.</a:t>
            </a:r>
            <a:br/>
            <a:r>
              <a:t>No more manual data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⚙ Custom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2402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Tailored to how FHE actually works.</a:t>
            </a:r>
            <a:br/>
            <a:r>
              <a:t>Not forced into Trello's templates.</a:t>
            </a:r>
            <a:br/>
            <a:r>
              <a:t>Our processes, our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🔒 Full Data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Data stays on OUR servers.</a:t>
            </a:r>
            <a:br/>
            <a:r>
              <a:t>No third-party access. Full compliance.</a:t>
            </a:r>
            <a:br/>
            <a:r>
              <a:t>Backup on our schedule.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3192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📱 Works Everywhere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6177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Mobile responsive PWA.</a:t>
            </a:r>
            <a:br/>
            <a:r>
              <a:t>Desktop, tablet, phone.</a:t>
            </a:r>
            <a:br/>
            <a:r>
              <a:t>Offline support built 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1264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"No more 'Sorry, that's a Premium feature.' Everything is a Premium feature. It's ours."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3291840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79BF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Development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40-60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to finish &amp; polish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645920"/>
            <a:ext cx="3291840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1BD4F"/>
                </a:solidFill>
                <a:latin typeface="Calibri"/>
              </a:defRPr>
            </a:pPr>
            <a:r>
              <a:t>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Hosting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$20/month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cloud hosting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1645920"/>
            <a:ext cx="3291840" cy="73152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AECC"/>
                </a:solidFill>
                <a:latin typeface="Calibri"/>
              </a:defRPr>
            </a:pPr>
            <a: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2-4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to full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4754880"/>
            <a:ext cx="9448495" cy="146304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72B4D"/>
                </a:solidFill>
                <a:latin typeface="Calibri"/>
              </a:defRPr>
            </a:pPr>
            <a:r>
              <a:t>To put it in perspective: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12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72B4D"/>
                </a:solidFill>
                <a:latin typeface="Calibri"/>
              </a:defRPr>
            </a:pPr>
            <a:r>
              <a:t>Total investment is less than ONE MONTH of Trello at scale ($250)</a:t>
            </a:r>
          </a:p>
          <a:p>
            <a:pPr>
              <a:spcBef>
                <a:spcPts val="600"/>
              </a:spcBef>
              <a:defRPr sz="1600" b="1">
                <a:solidFill>
                  <a:srgbClr val="61BD4F"/>
                </a:solidFill>
                <a:latin typeface="Calibri"/>
              </a:defRPr>
            </a:pPr>
            <a:r>
              <a:t>We already have a working prototype (you just saw it)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ROI is positive by Month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02920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-45720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Own Your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61BD4F"/>
                </a:solidFill>
                <a:latin typeface="Calibri"/>
              </a:defRPr>
            </a:pPr>
            <a:r>
              <a:t>Own Your Future.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91840"/>
            <a:ext cx="2133295" cy="36576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9BF"/>
                </a:solidFill>
                <a:latin typeface="Calibri"/>
              </a:defRPr>
            </a:pPr>
            <a:r>
              <a:t>FHE Project 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E6C84"/>
                </a:solidFill>
                <a:latin typeface="Calibri"/>
              </a:defRPr>
            </a:pPr>
            <a:r>
              <a:t>Built by Engineers, for Engineers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9487" y="4754880"/>
            <a:ext cx="2377440" cy="640080"/>
          </a:xfrm>
          <a:prstGeom prst="round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48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91% Cost Savings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1247" y="4754880"/>
            <a:ext cx="2377440" cy="640080"/>
          </a:xfrm>
          <a:prstGeom prst="round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Unlimited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4754880"/>
            <a:ext cx="2377440" cy="640080"/>
          </a:xfrm>
          <a:prstGeom prst="round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Email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4767" y="4754880"/>
            <a:ext cx="2377440" cy="640080"/>
          </a:xfrm>
          <a:prstGeom prst="round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476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Full Data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P.S. Atlassian won't miss us. They have plenty of subscribers.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